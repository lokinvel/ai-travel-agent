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80" d="100"/>
          <a:sy n="80" d="100"/>
        </p:scale>
        <p:origin x="74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lokinvel/AI-Travel-Agent.gi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52229521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LOKIN V</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sz="1200" dirty="0"/>
                        <a:t>VELLOKIN2004@GMAIL.COM</a:t>
                      </a:r>
                      <a:endParaRPr sz="12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8883734263</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fr-FR" sz="2400" b="1" dirty="0" err="1"/>
              <a:t>Artificial</a:t>
            </a:r>
            <a:r>
              <a:rPr lang="fr-FR" sz="2400" b="1" dirty="0"/>
              <a:t> Intelligence (AI) &amp; </a:t>
            </a:r>
            <a:r>
              <a:rPr lang="fr-FR" sz="2400" b="1" dirty="0" err="1"/>
              <a:t>Travel</a:t>
            </a:r>
            <a:r>
              <a:rPr lang="fr-FR" sz="2400" b="1" dirty="0"/>
              <a:t> </a:t>
            </a:r>
            <a:r>
              <a:rPr lang="fr-FR" sz="2400" b="1" dirty="0" err="1"/>
              <a:t>Technology</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AI-Powered Travel Planner Agent using IBM Granite</a:t>
            </a:r>
            <a:endParaRPr lang="en-IN" sz="2400" b="1" dirty="0">
              <a:highlight>
                <a:srgbClr val="FFFF00"/>
              </a:highlight>
            </a:endParaRPr>
          </a:p>
        </p:txBody>
      </p:sp>
      <p:pic>
        <p:nvPicPr>
          <p:cNvPr id="3" name="Picture 2">
            <a:extLst>
              <a:ext uri="{FF2B5EF4-FFF2-40B4-BE49-F238E27FC236}">
                <a16:creationId xmlns:a16="http://schemas.microsoft.com/office/drawing/2014/main" id="{9F27A973-60D1-4E60-A125-CCF9081BBB48}"/>
              </a:ext>
            </a:extLst>
          </p:cNvPr>
          <p:cNvPicPr>
            <a:picLocks noChangeAspect="1"/>
          </p:cNvPicPr>
          <p:nvPr/>
        </p:nvPicPr>
        <p:blipFill>
          <a:blip r:embed="rId3"/>
          <a:stretch>
            <a:fillRect/>
          </a:stretch>
        </p:blipFill>
        <p:spPr>
          <a:xfrm>
            <a:off x="4295775" y="3664795"/>
            <a:ext cx="619125" cy="9286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Travel Planner Agent</a:t>
            </a:r>
          </a:p>
          <a:p>
            <a:pPr fontAlgn="base"/>
            <a:endParaRPr lang="en-US" b="1" dirty="0"/>
          </a:p>
          <a:p>
            <a:pPr fontAlgn="base"/>
            <a:r>
              <a:rPr lang="en-US" b="1" dirty="0"/>
              <a:t>The Challenge</a:t>
            </a:r>
          </a:p>
          <a:p>
            <a:pPr fontAlgn="base"/>
            <a:endParaRPr lang="en-US" b="1" dirty="0"/>
          </a:p>
          <a:p>
            <a:pPr fontAlgn="base"/>
            <a:r>
              <a:rPr lang="en-US" dirty="0"/>
              <a:t>Planning a trip involves multiple decisions such as choosing destinations, managing budgets, selecting accommodations, arranging transportation, and creating itineraries. Travelers often spend significant time searching across different platforms for reliable information. This process can be overwhelming, especially when trying to balance preferences, costs, and time constraints.</a:t>
            </a:r>
          </a:p>
          <a:p>
            <a:pPr fontAlgn="base"/>
            <a:endParaRPr lang="en-US" b="1" dirty="0"/>
          </a:p>
          <a:p>
            <a:pPr fontAlgn="base"/>
            <a:r>
              <a:rPr lang="en-US" b="1" dirty="0"/>
              <a:t>The Objective</a:t>
            </a:r>
          </a:p>
          <a:p>
            <a:pPr fontAlgn="base"/>
            <a:endParaRPr lang="en-US" b="1" dirty="0"/>
          </a:p>
          <a:p>
            <a:pPr fontAlgn="base"/>
            <a:r>
              <a:rPr lang="en-US" dirty="0"/>
              <a:t>Develop an AI-powered Travel Planner Agent that helps users plan trips efficiently and intelligently. The solution should:</a:t>
            </a:r>
          </a:p>
          <a:p>
            <a:pPr fontAlgn="base"/>
            <a:endParaRPr lang="en-US" dirty="0"/>
          </a:p>
          <a:p>
            <a:pPr fontAlgn="base"/>
            <a:r>
              <a:rPr lang="en-US" dirty="0"/>
              <a:t>• Generate personalized travel itineraries based on user preferences, budget, duration, and interests.</a:t>
            </a:r>
          </a:p>
          <a:p>
            <a:pPr fontAlgn="base"/>
            <a:r>
              <a:rPr lang="en-US" dirty="0"/>
              <a:t>• Recommend suitable destinations, hotels, and transportation options.</a:t>
            </a:r>
          </a:p>
          <a:p>
            <a:pPr fontAlgn="base"/>
            <a:r>
              <a:rPr lang="en-US" dirty="0"/>
              <a:t>• Provide budget-friendly travel suggestions and cost optimization.</a:t>
            </a:r>
          </a:p>
          <a:p>
            <a:pPr fontAlgn="base"/>
            <a:r>
              <a:rPr lang="en-US" dirty="0"/>
              <a:t>• Create day-wise travel schedules for a smooth travel experience.</a:t>
            </a:r>
          </a:p>
          <a:p>
            <a:pPr fontAlgn="base"/>
            <a:r>
              <a:rPr lang="en-US" dirty="0"/>
              <a:t>• Offer local attraction and food recommendations.</a:t>
            </a:r>
          </a:p>
          <a:p>
            <a:pPr fontAlgn="base"/>
            <a:r>
              <a:rPr lang="en-US" dirty="0"/>
              <a:t>• Suggest transportation methods such as flights, trains, buses, and local travel options.</a:t>
            </a:r>
          </a:p>
          <a:p>
            <a:pPr fontAlgn="base"/>
            <a:r>
              <a:rPr lang="en-US" dirty="0"/>
              <a:t>• Deliver travel tips and guidance to enhance the overall travel experience.</a:t>
            </a:r>
          </a:p>
          <a:p>
            <a:pPr fontAlgn="base"/>
            <a:endParaRPr lang="en-US" dirty="0"/>
          </a:p>
          <a:p>
            <a:pPr fontAlgn="base"/>
            <a:r>
              <a:rPr lang="en-US" dirty="0"/>
              <a:t>The system should leverage IBM Granite Models and </a:t>
            </a:r>
            <a:r>
              <a:rPr lang="en-US" dirty="0" err="1"/>
              <a:t>LangFlow</a:t>
            </a:r>
            <a:r>
              <a:rPr lang="en-US" dirty="0"/>
              <a:t> to provide intelligent, personalized, and user-friendly travel planning assistance.</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3539430"/>
          </a:xfrm>
          <a:prstGeom prst="rect">
            <a:avLst/>
          </a:prstGeom>
          <a:noFill/>
        </p:spPr>
        <p:txBody>
          <a:bodyPr wrap="square" rtlCol="0">
            <a:spAutoFit/>
          </a:bodyPr>
          <a:lstStyle/>
          <a:p>
            <a:pPr fontAlgn="base"/>
            <a:endParaRPr lang="en-US" b="1" dirty="0"/>
          </a:p>
          <a:p>
            <a:pPr fontAlgn="base"/>
            <a:r>
              <a:rPr lang="en-US" b="1" dirty="0"/>
              <a:t>Technology Used</a:t>
            </a:r>
          </a:p>
          <a:p>
            <a:pPr fontAlgn="base"/>
            <a:endParaRPr lang="en-US" b="1" dirty="0"/>
          </a:p>
          <a:p>
            <a:pPr fontAlgn="base"/>
            <a:r>
              <a:rPr lang="en-US" b="1" dirty="0"/>
              <a:t>• </a:t>
            </a:r>
            <a:r>
              <a:rPr lang="en-US" b="1" dirty="0" err="1"/>
              <a:t>LangFlow</a:t>
            </a:r>
            <a:r>
              <a:rPr lang="en-US" b="1" dirty="0"/>
              <a:t> – </a:t>
            </a:r>
            <a:r>
              <a:rPr lang="en-US" dirty="0"/>
              <a:t>Used to design and manage the AI workflow.</a:t>
            </a:r>
          </a:p>
          <a:p>
            <a:pPr fontAlgn="base"/>
            <a:r>
              <a:rPr lang="en-US" b="1" dirty="0"/>
              <a:t>• IBM watsonx.ai – </a:t>
            </a:r>
            <a:r>
              <a:rPr lang="en-US" dirty="0"/>
              <a:t>Used to access and deploy IBM Granite models.</a:t>
            </a:r>
          </a:p>
          <a:p>
            <a:pPr fontAlgn="base"/>
            <a:r>
              <a:rPr lang="en-US" b="1" dirty="0"/>
              <a:t>• IBM Granite Foundation Model – </a:t>
            </a:r>
            <a:r>
              <a:rPr lang="en-US" dirty="0"/>
              <a:t>Used to generate personalized travel plans and recommendations.</a:t>
            </a:r>
          </a:p>
          <a:p>
            <a:pPr fontAlgn="base"/>
            <a:r>
              <a:rPr lang="en-US" b="1" dirty="0"/>
              <a:t>• IBM Cloud Lite </a:t>
            </a:r>
            <a:r>
              <a:rPr lang="en-US" dirty="0"/>
              <a:t>– Provides the cloud platform for running the solution.</a:t>
            </a:r>
          </a:p>
          <a:p>
            <a:pPr fontAlgn="base"/>
            <a:r>
              <a:rPr lang="en-US" b="1" dirty="0"/>
              <a:t>• Prompt Engineering – </a:t>
            </a:r>
            <a:r>
              <a:rPr lang="en-US" dirty="0"/>
              <a:t>Used to structure user queries and generate accurate travel itineraries.</a:t>
            </a:r>
          </a:p>
          <a:p>
            <a:pPr fontAlgn="base"/>
            <a:r>
              <a:rPr lang="en-US" b="1" dirty="0"/>
              <a:t>• Generative AI – </a:t>
            </a:r>
            <a:r>
              <a:rPr lang="en-US" dirty="0"/>
              <a:t>Used for itinerary creation, hotel recommendations, transportation suggestions, and travel guidance</a:t>
            </a:r>
            <a:r>
              <a:rPr lang="en-US" b="1" dirty="0"/>
              <a:t>.</a:t>
            </a:r>
          </a:p>
          <a:p>
            <a:pPr fontAlgn="base"/>
            <a:endParaRPr lang="en-IN" dirty="0"/>
          </a:p>
          <a:p>
            <a:pPr fontAlgn="base"/>
            <a:r>
              <a:rPr lang="en-IN" dirty="0"/>
              <a:t>I used </a:t>
            </a:r>
            <a:r>
              <a:rPr lang="en-IN" dirty="0" err="1"/>
              <a:t>LangFlow</a:t>
            </a:r>
            <a:r>
              <a:rPr lang="en-IN" dirty="0"/>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3970318"/>
          </a:xfrm>
          <a:prstGeom prst="rect">
            <a:avLst/>
          </a:prstGeom>
          <a:noFill/>
        </p:spPr>
        <p:txBody>
          <a:bodyPr wrap="square" rtlCol="0">
            <a:spAutoFit/>
          </a:bodyPr>
          <a:lstStyle/>
          <a:p>
            <a:pPr fontAlgn="base"/>
            <a:endParaRPr lang="en-US" b="1" dirty="0"/>
          </a:p>
          <a:p>
            <a:r>
              <a:rPr lang="en-US" b="1" dirty="0"/>
              <a:t>Proposed Solution – AI-Powered Travel Planner Agent</a:t>
            </a:r>
          </a:p>
          <a:p>
            <a:endParaRPr lang="en-US" dirty="0"/>
          </a:p>
          <a:p>
            <a:r>
              <a:rPr lang="en-US" dirty="0"/>
              <a:t>The proposed solution is an AI-powered Travel Planner Agent built using </a:t>
            </a:r>
            <a:r>
              <a:rPr lang="en-US" dirty="0" err="1"/>
              <a:t>LangFlow</a:t>
            </a:r>
            <a:r>
              <a:rPr lang="en-US" dirty="0"/>
              <a:t>, IBM watsonx.ai, and IBM Granite Models. The system helps users plan trips efficiently by generating personalized travel itineraries based on destination, budget, trip duration, number of travelers, and interests.</a:t>
            </a:r>
          </a:p>
          <a:p>
            <a:endParaRPr lang="en-US" dirty="0"/>
          </a:p>
          <a:p>
            <a:r>
              <a:rPr lang="en-US" dirty="0"/>
              <a:t>The Travel Planner Agent analyzes user preferences and provides day-wise travel schedules, hotel recommendations, transportation suggestions, budget optimization, and travel tips. The solution uses IBM Granite models to understand user requirements and generate intelligent, customized travel plans in real time.</a:t>
            </a:r>
          </a:p>
          <a:p>
            <a:endParaRPr lang="en-US" dirty="0"/>
          </a:p>
          <a:p>
            <a:r>
              <a:rPr lang="en-US" dirty="0" err="1"/>
              <a:t>LangFlow</a:t>
            </a:r>
            <a:r>
              <a:rPr lang="en-US" dirty="0"/>
              <a:t> is used to design and manage the workflow, while IBM watsonx.ai provides access to Granite foundation models for reasoning and content generation. The system simplifies travel planning by offering a single platform for itinerary creation and travel guidance.</a:t>
            </a:r>
          </a:p>
          <a:p>
            <a:endParaRPr lang="en-US" dirty="0"/>
          </a:p>
          <a:p>
            <a:r>
              <a:rPr lang="en-US" dirty="0"/>
              <a:t>Overall, the solution acts as a smart virtual travel assistant that saves time, improves decision-making, and enhances the travel experience through personalized recommendations.</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047536"/>
          </a:xfrm>
          <a:prstGeom prst="rect">
            <a:avLst/>
          </a:prstGeom>
          <a:noFill/>
        </p:spPr>
        <p:txBody>
          <a:bodyPr wrap="square" rtlCol="0">
            <a:spAutoFit/>
          </a:bodyPr>
          <a:lstStyle/>
          <a:p>
            <a:r>
              <a:rPr lang="en-US" dirty="0" err="1"/>
              <a:t>LangFlow</a:t>
            </a:r>
            <a:r>
              <a:rPr lang="en-US" dirty="0"/>
              <a:t> Components Used</a:t>
            </a:r>
          </a:p>
          <a:p>
            <a:endParaRPr lang="en-US" dirty="0"/>
          </a:p>
          <a:p>
            <a:r>
              <a:rPr lang="en-US" dirty="0"/>
              <a:t>1. Chat Input</a:t>
            </a:r>
          </a:p>
          <a:p>
            <a:r>
              <a:rPr lang="en-US" dirty="0"/>
              <a:t>   - Accepts user travel details such as source, destination, budget, duration, travelers, and interests.</a:t>
            </a:r>
          </a:p>
          <a:p>
            <a:endParaRPr lang="en-US" dirty="0"/>
          </a:p>
          <a:p>
            <a:r>
              <a:rPr lang="en-US" dirty="0"/>
              <a:t>2. Prompt Template</a:t>
            </a:r>
          </a:p>
          <a:p>
            <a:r>
              <a:rPr lang="en-US" dirty="0"/>
              <a:t>   - Structures user input into a format that IBM Granite can understand and process effectively.</a:t>
            </a:r>
          </a:p>
          <a:p>
            <a:endParaRPr lang="en-US" dirty="0"/>
          </a:p>
          <a:p>
            <a:r>
              <a:rPr lang="en-US" dirty="0"/>
              <a:t>3. IBM watsonx.ai</a:t>
            </a:r>
          </a:p>
          <a:p>
            <a:r>
              <a:rPr lang="en-US" dirty="0"/>
              <a:t>   - Connects to the IBM Granite foundation model and generates intelligent travel plans.</a:t>
            </a:r>
          </a:p>
          <a:p>
            <a:endParaRPr lang="en-US" dirty="0"/>
          </a:p>
          <a:p>
            <a:r>
              <a:rPr lang="en-US" dirty="0"/>
              <a:t>4. IBM Granite Model</a:t>
            </a:r>
          </a:p>
          <a:p>
            <a:r>
              <a:rPr lang="en-US" dirty="0"/>
              <a:t>   - Analyzes user preferences and creates personalized itineraries, hotel recommendations, and travel suggestions.</a:t>
            </a:r>
          </a:p>
          <a:p>
            <a:endParaRPr lang="en-US" dirty="0"/>
          </a:p>
          <a:p>
            <a:r>
              <a:rPr lang="en-US" dirty="0"/>
              <a:t>5. Chat Output</a:t>
            </a:r>
          </a:p>
          <a:p>
            <a:r>
              <a:rPr lang="en-US" dirty="0"/>
              <a:t>   - Displays the generated travel plan and recommendations to the user.</a:t>
            </a:r>
          </a:p>
          <a:p>
            <a:endParaRPr lang="en-US" dirty="0"/>
          </a:p>
          <a:p>
            <a:r>
              <a:rPr lang="en-US" dirty="0"/>
              <a:t>6. API Request (Optional)</a:t>
            </a:r>
          </a:p>
          <a:p>
            <a:r>
              <a:rPr lang="en-US" dirty="0"/>
              <a:t>   - Can be used for future integration of weather, maps, hotel, or travel information services</a:t>
            </a:r>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CB867F9B-C7EB-49DC-B382-CAA929BA28C2}"/>
              </a:ext>
            </a:extLst>
          </p:cNvPr>
          <p:cNvPicPr>
            <a:picLocks noChangeAspect="1"/>
          </p:cNvPicPr>
          <p:nvPr/>
        </p:nvPicPr>
        <p:blipFill>
          <a:blip r:embed="rId3"/>
          <a:stretch>
            <a:fillRect/>
          </a:stretch>
        </p:blipFill>
        <p:spPr>
          <a:xfrm>
            <a:off x="1157812" y="1034192"/>
            <a:ext cx="9876376" cy="515156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a:extLst>
              <a:ext uri="{FF2B5EF4-FFF2-40B4-BE49-F238E27FC236}">
                <a16:creationId xmlns:a16="http://schemas.microsoft.com/office/drawing/2014/main" id="{61059B81-878F-4D0B-A675-104BA4C2B1A0}"/>
              </a:ext>
            </a:extLst>
          </p:cNvPr>
          <p:cNvPicPr>
            <a:picLocks noChangeAspect="1"/>
          </p:cNvPicPr>
          <p:nvPr/>
        </p:nvPicPr>
        <p:blipFill>
          <a:blip r:embed="rId3"/>
          <a:stretch>
            <a:fillRect/>
          </a:stretch>
        </p:blipFill>
        <p:spPr>
          <a:xfrm>
            <a:off x="4435791" y="412908"/>
            <a:ext cx="4021456" cy="603218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970318"/>
          </a:xfrm>
          <a:prstGeom prst="rect">
            <a:avLst/>
          </a:prstGeom>
          <a:noFill/>
        </p:spPr>
        <p:txBody>
          <a:bodyPr wrap="square" rtlCol="0">
            <a:spAutoFit/>
          </a:bodyPr>
          <a:lstStyle/>
          <a:p>
            <a:endParaRPr lang="en-US" b="1" dirty="0"/>
          </a:p>
          <a:p>
            <a:r>
              <a:rPr lang="en-US" dirty="0"/>
              <a:t>Generative AI plays a central role in the AI Travel Planner Agent by enabling intelligent and personalized travel recommendations. The system uses IBM watsonx.ai and Granite Foundation Models to analyze user inputs such as source location, destination, budget, number of travelers, travel duration, and interests.</a:t>
            </a:r>
          </a:p>
          <a:p>
            <a:endParaRPr lang="en-US" dirty="0"/>
          </a:p>
          <a:p>
            <a:r>
              <a:rPr lang="en-US" dirty="0"/>
              <a:t>Based on these inputs, the Generative AI model generates a customized travel itinerary that includes destination recommendations, hotel suggestions, transportation options, estimated expenses, and travel tips. The model understands natural language queries and produces human-like responses, making the travel planning process simple and interactive.</a:t>
            </a:r>
          </a:p>
          <a:p>
            <a:endParaRPr lang="en-US" dirty="0"/>
          </a:p>
          <a:p>
            <a:r>
              <a:rPr lang="en-US" dirty="0"/>
              <a:t>Generative AI also helps optimize travel plans according to user constraints, ensuring that recommendations remain relevant, budget-friendly, and personalized. By automating itinerary creation and travel decision-making, the solution reduces manual effort and enhances the overall user experience.</a:t>
            </a:r>
          </a:p>
          <a:p>
            <a:endParaRPr lang="en-US" dirty="0"/>
          </a:p>
          <a:p>
            <a:r>
              <a:rPr lang="en-US" dirty="0"/>
              <a:t>Thus, Generative AI serves as the core intelligence layer of the system, transforming user requirements into a complete and actionable travel plan.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2585323"/>
          </a:xfrm>
          <a:prstGeom prst="rect">
            <a:avLst/>
          </a:prstGeom>
          <a:noFill/>
        </p:spPr>
        <p:txBody>
          <a:bodyPr wrap="square" rtlCol="0">
            <a:spAutoFit/>
          </a:bodyPr>
          <a:lstStyle/>
          <a:p>
            <a:r>
              <a:rPr lang="en-US" sz="1800" b="1" dirty="0"/>
              <a:t> </a:t>
            </a:r>
            <a:endParaRPr lang="en-US" sz="1800" dirty="0"/>
          </a:p>
          <a:p>
            <a:pPr marL="285750" indent="-285750">
              <a:buFont typeface="Arial" panose="020B0604020202020204" pitchFamily="34" charset="0"/>
              <a:buChar char="•"/>
            </a:pPr>
            <a:r>
              <a:rPr lang="en-US" sz="1800" dirty="0"/>
              <a:t>1. </a:t>
            </a:r>
            <a:r>
              <a:rPr lang="en-US" sz="1800" dirty="0" err="1"/>
              <a:t>LangFlow</a:t>
            </a:r>
            <a:r>
              <a:rPr lang="en-US" sz="1800" dirty="0"/>
              <a:t> – Visual workflow builder used to design and connect AI components.</a:t>
            </a:r>
          </a:p>
          <a:p>
            <a:pPr marL="285750" indent="-285750">
              <a:buFont typeface="Arial" panose="020B0604020202020204" pitchFamily="34" charset="0"/>
              <a:buChar char="•"/>
            </a:pPr>
            <a:r>
              <a:rPr lang="en-US" sz="1800" dirty="0"/>
              <a:t>2. IBM watsonx.ai – AI platform used to access and deploy foundation models.</a:t>
            </a:r>
          </a:p>
          <a:p>
            <a:pPr marL="285750" indent="-285750">
              <a:buFont typeface="Arial" panose="020B0604020202020204" pitchFamily="34" charset="0"/>
              <a:buChar char="•"/>
            </a:pPr>
            <a:r>
              <a:rPr lang="en-US" sz="1800" dirty="0"/>
              <a:t>3. IBM Granite Model – Large Language Model used for generating personalized travel plans.</a:t>
            </a:r>
          </a:p>
          <a:p>
            <a:pPr marL="285750" indent="-285750">
              <a:buFont typeface="Arial" panose="020B0604020202020204" pitchFamily="34" charset="0"/>
              <a:buChar char="•"/>
            </a:pPr>
            <a:r>
              <a:rPr lang="en-US" sz="1800" dirty="0"/>
              <a:t>4. Prompt Engineering – Used to structure user inputs and guide AI responses.</a:t>
            </a:r>
          </a:p>
          <a:p>
            <a:pPr marL="285750" indent="-285750">
              <a:buFont typeface="Arial" panose="020B0604020202020204" pitchFamily="34" charset="0"/>
              <a:buChar char="•"/>
            </a:pPr>
            <a:r>
              <a:rPr lang="en-US" sz="1800" dirty="0"/>
              <a:t>5. REST APIs – Used for integrating external travel and location information.</a:t>
            </a:r>
          </a:p>
          <a:p>
            <a:pPr marL="285750" indent="-285750">
              <a:buFont typeface="Arial" panose="020B0604020202020204" pitchFamily="34" charset="0"/>
              <a:buChar char="•"/>
            </a:pPr>
            <a:r>
              <a:rPr lang="en-US" sz="1800" dirty="0"/>
              <a:t>6. Python – Backend programming language supporting AI workflow execution.</a:t>
            </a:r>
          </a:p>
          <a:p>
            <a:pPr marL="285750" indent="-285750">
              <a:buFont typeface="Arial" panose="020B0604020202020204" pitchFamily="34" charset="0"/>
              <a:buChar char="•"/>
            </a:pPr>
            <a:r>
              <a:rPr lang="en-US" sz="1800" dirty="0"/>
              <a:t>7. JSON – Data format used for API communication and data exchange.</a:t>
            </a:r>
          </a:p>
          <a:p>
            <a:pPr marL="285750" indent="-285750">
              <a:buFont typeface="Arial" panose="020B0604020202020204" pitchFamily="34" charset="0"/>
              <a:buChar char="•"/>
            </a:pPr>
            <a:r>
              <a:rPr lang="en-US" sz="1800" dirty="0"/>
              <a:t>8. Chat Interface – Enables users to interact with the AI Travel Planner Agent.</a:t>
            </a:r>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247317"/>
          </a:xfrm>
          <a:prstGeom prst="rect">
            <a:avLst/>
          </a:prstGeom>
          <a:noFill/>
        </p:spPr>
        <p:txBody>
          <a:bodyPr wrap="square" rtlCol="0">
            <a:spAutoFit/>
          </a:bodyPr>
          <a:lstStyle/>
          <a:p>
            <a:r>
              <a:rPr lang="en-US" sz="1800" dirty="0"/>
              <a:t>The proposed AI Travel Planner Agent provides an intelligent and personalized approach to travel planning by combining Generative AI, IBM watsonx.ai, and </a:t>
            </a:r>
            <a:r>
              <a:rPr lang="en-US" sz="1800" dirty="0" err="1"/>
              <a:t>LangFlow</a:t>
            </a:r>
            <a:r>
              <a:rPr lang="en-US" sz="1800" dirty="0"/>
              <a:t>. Unlike traditional travel applications that require users to search multiple websites for information, the system generates a complete travel plan through a single conversational interface.</a:t>
            </a:r>
          </a:p>
          <a:p>
            <a:endParaRPr lang="en-US" sz="1800" dirty="0"/>
          </a:p>
          <a:p>
            <a:r>
              <a:rPr lang="en-US" sz="1800" dirty="0"/>
              <a:t>The uniqueness of the solution lies in its ability to understand user preferences such as budget, destination, travel duration, number of travelers, and interests, and automatically create customized travel itineraries. The system also recommends suitable hotels, transportation options, budget estimates, and travel tips in real time.</a:t>
            </a:r>
          </a:p>
          <a:p>
            <a:endParaRPr lang="en-US" sz="1800" dirty="0"/>
          </a:p>
          <a:p>
            <a:r>
              <a:rPr lang="en-US" sz="1800" dirty="0"/>
              <a:t>By leveraging IBM Granite Foundation Models, the solution delivers human-like recommendations and adapts plans according to individual requirements. The visual workflow implementation using </a:t>
            </a:r>
            <a:r>
              <a:rPr lang="en-US" sz="1800" dirty="0" err="1"/>
              <a:t>LangFlow</a:t>
            </a:r>
            <a:r>
              <a:rPr lang="en-US" sz="1800" dirty="0"/>
              <a:t> enables rapid development, transparency, and scalability.</a:t>
            </a:r>
          </a:p>
          <a:p>
            <a:endParaRPr lang="en-US" sz="1800" dirty="0"/>
          </a:p>
          <a:p>
            <a:r>
              <a:rPr lang="en-US" sz="1800" dirty="0"/>
              <a:t>This integration of conversational AI, personalized recommendations, and automated itinerary generation makes the solution innovative, user-friendly, and highly practical for modern travelers.</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https://github.com/lokinvel/AI-Travel-Agent.git</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285750" lvl="0" indent="-285750">
              <a:lnSpc>
                <a:spcPct val="162162"/>
              </a:lnSpc>
              <a:buClr>
                <a:srgbClr val="2B3541"/>
              </a:buClr>
              <a:buSzPts val="1850"/>
              <a:buFont typeface="Arial" panose="020B0604020202020204" pitchFamily="34" charset="0"/>
              <a:buChar char="•"/>
            </a:pPr>
            <a:r>
              <a:rPr lang="en-US" sz="1700" dirty="0">
                <a:solidFill>
                  <a:srgbClr val="2B3541"/>
                </a:solidFill>
                <a:latin typeface="Times New Roman"/>
                <a:ea typeface="Times New Roman"/>
                <a:cs typeface="Times New Roman"/>
                <a:sym typeface="Times New Roman"/>
              </a:rPr>
              <a:t>The AI Travel Planner Agent can be enhanced with several advanced features in the future. Real-time weather integration can be added to provide weather-aware travel recommendations and activity planning. The system can also integrate live flight, train, and hotel booking APIs to enable end-to-end travel management.</a:t>
            </a:r>
          </a:p>
          <a:p>
            <a:pPr marL="285750" lvl="0" indent="-285750">
              <a:lnSpc>
                <a:spcPct val="162162"/>
              </a:lnSpc>
              <a:buClr>
                <a:srgbClr val="2B3541"/>
              </a:buClr>
              <a:buSzPts val="1850"/>
              <a:buFont typeface="Arial" panose="020B0604020202020204" pitchFamily="34" charset="0"/>
              <a:buChar char="•"/>
            </a:pPr>
            <a:r>
              <a:rPr lang="en-US" sz="1700" dirty="0">
                <a:solidFill>
                  <a:srgbClr val="2B3541"/>
                </a:solidFill>
                <a:latin typeface="Times New Roman"/>
                <a:ea typeface="Times New Roman"/>
                <a:cs typeface="Times New Roman"/>
                <a:sym typeface="Times New Roman"/>
              </a:rPr>
              <a:t>Future versions may include multilingual support, allowing users to interact in different languages. GPS and map integration can provide nearby attractions, restaurants, and navigation assistance. User profiles and travel history can be stored to deliver more personalized recommendations.</a:t>
            </a:r>
          </a:p>
          <a:p>
            <a:pPr marL="285750" lvl="0" indent="-285750">
              <a:lnSpc>
                <a:spcPct val="162162"/>
              </a:lnSpc>
              <a:buClr>
                <a:srgbClr val="2B3541"/>
              </a:buClr>
              <a:buSzPts val="1850"/>
              <a:buFont typeface="Arial" panose="020B0604020202020204" pitchFamily="34" charset="0"/>
              <a:buChar char="•"/>
            </a:pPr>
            <a:r>
              <a:rPr lang="en-US" sz="1700" dirty="0">
                <a:solidFill>
                  <a:srgbClr val="2B3541"/>
                </a:solidFill>
                <a:latin typeface="Times New Roman"/>
                <a:ea typeface="Times New Roman"/>
                <a:cs typeface="Times New Roman"/>
                <a:sym typeface="Times New Roman"/>
              </a:rPr>
              <a:t>The solution can further be extended with predictive analytics to suggest optimal travel dates, estimate expenses more accurately, and identify trending destinations. Mobile application deployment and voice-based interaction can improve accessibility and user experience.</a:t>
            </a:r>
          </a:p>
          <a:p>
            <a:pPr marL="285750" lvl="0" indent="-285750">
              <a:lnSpc>
                <a:spcPct val="162162"/>
              </a:lnSpc>
              <a:buClr>
                <a:srgbClr val="2B3541"/>
              </a:buClr>
              <a:buSzPts val="1850"/>
              <a:buFont typeface="Arial" panose="020B0604020202020204" pitchFamily="34" charset="0"/>
              <a:buChar char="•"/>
            </a:pPr>
            <a:r>
              <a:rPr lang="en-US" sz="1700" dirty="0">
                <a:solidFill>
                  <a:srgbClr val="2B3541"/>
                </a:solidFill>
                <a:latin typeface="Times New Roman"/>
                <a:ea typeface="Times New Roman"/>
                <a:cs typeface="Times New Roman"/>
                <a:sym typeface="Times New Roman"/>
              </a:rPr>
              <a:t>These enhancements will transform the AI Travel Planner Agent into a comprehensive smart travel assistant capable of providing real-time, personalized, and intelligent travel planning services.</a:t>
            </a:r>
            <a:endParaRPr sz="170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1220</TotalTime>
  <Words>1354</Words>
  <Application>Microsoft Office PowerPoint</Application>
  <PresentationFormat>Widescreen</PresentationFormat>
  <Paragraphs>129</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dpk08</cp:lastModifiedBy>
  <cp:revision>26</cp:revision>
  <dcterms:created xsi:type="dcterms:W3CDTF">2025-07-08T05:06:56Z</dcterms:created>
  <dcterms:modified xsi:type="dcterms:W3CDTF">2026-06-14T17:07:19Z</dcterms:modified>
</cp:coreProperties>
</file>