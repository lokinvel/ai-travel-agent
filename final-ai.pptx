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87" r:id="rId9"/>
    <p:sldId id="262"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0" d="100"/>
          <a:sy n="80" d="100"/>
        </p:scale>
        <p:origin x="74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2229521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LOKIN V</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1200" dirty="0"/>
                        <a:t>VELLOKIN2004@GMAIL.COM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8883734263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fr-FR" sz="2400" b="1" dirty="0" err="1"/>
              <a:t>Artificial</a:t>
            </a:r>
            <a:r>
              <a:rPr lang="fr-FR" sz="2400" b="1" dirty="0"/>
              <a:t> Intelligence (AI) &amp; </a:t>
            </a:r>
            <a:r>
              <a:rPr lang="fr-FR" sz="2400" b="1" dirty="0" err="1"/>
              <a:t>Travel</a:t>
            </a:r>
            <a:r>
              <a:rPr lang="fr-FR" sz="2400" b="1" dirty="0"/>
              <a:t> </a:t>
            </a:r>
            <a:r>
              <a:rPr lang="fr-FR" sz="2400" b="1" dirty="0" err="1"/>
              <a:t>Technology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AI-Powered Travel Planner Agent using IBM Granite</a:t>
            </a:r>
            <a:endParaRPr lang="en-IN" sz="2400" b="1" dirty="0">
              <a:highlight>
                <a:srgbClr val="FFFF00"/>
              </a:highlight>
            </a:endParaRPr>
          </a:p>
        </p:txBody>
      </p:sp>
      <p:pic>
        <p:nvPicPr>
          <p:cNvPr id="3" name="Picture 2">
            <a:extLst>
              <a:ext uri="{FF2B5EF4-FFF2-40B4-BE49-F238E27FC236}">
                <a16:creationId xmlns:a16="http://schemas.microsoft.com/office/drawing/2014/main" id="{9F27A973-60D1-4E60-A125-CCF9081BBB48}"/>
              </a:ext>
            </a:extLst>
          </p:cNvPr>
          <p:cNvPicPr>
            <a:picLocks noChangeAspect="1"/>
          </p:cNvPicPr>
          <p:nvPr/>
        </p:nvPicPr>
        <p:blipFill>
          <a:blip r:embed="rId3"/>
          <a:stretch>
            <a:fillRect/>
          </a:stretch>
        </p:blipFill>
        <p:spPr>
          <a:xfrm>
            <a:off x="4295775" y="3664795"/>
            <a:ext cx="619125" cy="928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Travel Planner Agent</a:t>
            </a:r>
          </a:p>
          <a:p>
            <a:pPr fontAlgn="base"/>
            <a:endParaRPr lang="en-US" b="1" dirty="0"/>
          </a:p>
          <a:p>
            <a:pPr fontAlgn="base"/>
            <a:r>
              <a:rPr lang="en-US" b="1" dirty="0"/>
              <a:t>The Challenge</a:t>
            </a:r>
          </a:p>
          <a:p>
            <a:pPr fontAlgn="base"/>
            <a:endParaRPr lang="en-US" b="1" dirty="0"/>
          </a:p>
          <a:p>
            <a:pPr fontAlgn="base"/>
            <a:r>
              <a:rPr lang="en-US" dirty="0"/>
              <a:t>Planning a trip involves multiple decisions such as choosing destinations, managing budgets, selecting accommodations, arranging transportation, and creating itineraries. Travelers often spend significant time searching across different platforms for reliable information. This process can be overwhelming, especially when trying to balance preferences, costs, and time constraints.</a:t>
            </a:r>
          </a:p>
          <a:p>
            <a:pPr fontAlgn="base"/>
            <a:endParaRPr lang="en-US" b="1" dirty="0"/>
          </a:p>
          <a:p>
            <a:pPr fontAlgn="base"/>
            <a:r>
              <a:rPr lang="en-US" b="1" dirty="0"/>
              <a:t>The Objective</a:t>
            </a:r>
          </a:p>
          <a:p>
            <a:pPr fontAlgn="base"/>
            <a:endParaRPr lang="en-US" b="1" dirty="0"/>
          </a:p>
          <a:p>
            <a:pPr fontAlgn="base"/>
            <a:r>
              <a:rPr lang="en-US" dirty="0"/>
              <a:t>Develop an AI-powered Travel Planner Agent that helps users plan trips efficiently and intelligently. The solution should:</a:t>
            </a:r>
          </a:p>
          <a:p>
            <a:pPr fontAlgn="base"/>
            <a:endParaRPr lang="en-US" dirty="0"/>
          </a:p>
          <a:p>
            <a:pPr fontAlgn="base"/>
            <a:r>
              <a:rPr lang="en-US" dirty="0"/>
              <a:t>• Generate personalized travel itineraries based on user preferences, budget, duration, and interests.</a:t>
            </a:r>
          </a:p>
          <a:p>
            <a:pPr fontAlgn="base"/>
            <a:r>
              <a:rPr lang="en-US" dirty="0"/>
              <a:t>• Recommend suitable destinations, hotels, and transportation options.</a:t>
            </a:r>
          </a:p>
          <a:p>
            <a:pPr fontAlgn="base"/>
            <a:r>
              <a:rPr lang="en-US" dirty="0"/>
              <a:t>• Provide budget-friendly travel suggestions and cost optimization.</a:t>
            </a:r>
          </a:p>
          <a:p>
            <a:pPr fontAlgn="base"/>
            <a:r>
              <a:rPr lang="en-US" dirty="0"/>
              <a:t>• Create day-wise travel schedules for a smooth travel experience.</a:t>
            </a:r>
          </a:p>
          <a:p>
            <a:pPr fontAlgn="base"/>
            <a:r>
              <a:rPr lang="en-US" dirty="0"/>
              <a:t>• Offer local attraction and food recommendations.</a:t>
            </a:r>
          </a:p>
          <a:p>
            <a:pPr fontAlgn="base"/>
            <a:r>
              <a:rPr lang="en-US" dirty="0"/>
              <a:t>• Suggest transportation methods such as flights, trains, buses, and local travel options.</a:t>
            </a:r>
          </a:p>
          <a:p>
            <a:pPr fontAlgn="base"/>
            <a:r>
              <a:rPr lang="en-US" dirty="0"/>
              <a:t>• Deliver travel tips and guidance to enhance the overall travel experience.</a:t>
            </a:r>
          </a:p>
          <a:p>
            <a:pPr fontAlgn="base"/>
            <a:endParaRPr lang="en-US" dirty="0"/>
          </a:p>
          <a:p>
            <a:pPr fontAlgn="base"/>
            <a:r>
              <a:rPr lang="en-US" dirty="0"/>
              <a:t>The system should leverage IBM Granite Models and </a:t>
            </a:r>
            <a:r>
              <a:rPr lang="en-US" dirty="0" err="1"/>
              <a:t>LangFlow</a:t>
            </a:r>
            <a:r>
              <a:rPr lang="en-US" dirty="0"/>
              <a:t> to provide intelligent, personalized, and user-friendly travel planning assistance.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3539430"/>
          </a:xfrm>
          <a:prstGeom prst="rect">
            <a:avLst/>
          </a:prstGeom>
          <a:noFill/>
        </p:spPr>
        <p:txBody>
          <a:bodyPr wrap="square" rtlCol="0">
            <a:spAutoFit/>
          </a:bodyPr>
          <a:lstStyle/>
          <a:p>
            <a:pPr fontAlgn="base"/>
            <a:endParaRPr lang="en-US" b="1" dirty="0"/>
          </a:p>
          <a:p>
            <a:pPr fontAlgn="base"/>
            <a:r>
              <a:rPr lang="en-US" b="1" dirty="0"/>
              <a:t>Technology Used</a:t>
            </a:r>
          </a:p>
          <a:p>
            <a:pPr fontAlgn="base"/>
            <a:endParaRPr lang="en-US" b="1" dirty="0"/>
          </a:p>
          <a:p>
            <a:pPr fontAlgn="base"/>
            <a:r>
              <a:rPr lang="en-US" b="1" dirty="0"/>
              <a:t>• </a:t>
            </a:r>
            <a:r>
              <a:rPr lang="en-US" b="1" dirty="0" err="1"/>
              <a:t>LangFlow</a:t>
            </a:r>
            <a:r>
              <a:rPr lang="en-US" b="1" dirty="0"/>
              <a:t> – </a:t>
            </a:r>
            <a:r>
              <a:rPr lang="en-US" dirty="0"/>
              <a:t>Used to design and manage the AI workflow.</a:t>
            </a:r>
          </a:p>
          <a:p>
            <a:pPr fontAlgn="base"/>
            <a:r>
              <a:rPr lang="en-US" b="1" dirty="0"/>
              <a:t>• IBM watsonx.ai – </a:t>
            </a:r>
            <a:r>
              <a:rPr lang="en-US" dirty="0"/>
              <a:t>Used to access and deploy IBM Granite models.</a:t>
            </a:r>
          </a:p>
          <a:p>
            <a:pPr fontAlgn="base"/>
            <a:r>
              <a:rPr lang="en-US" b="1" dirty="0"/>
              <a:t>• IBM Granite Foundation Model – </a:t>
            </a:r>
            <a:r>
              <a:rPr lang="en-US" dirty="0"/>
              <a:t>Used to generate personalized travel plans and recommendations.</a:t>
            </a:r>
          </a:p>
          <a:p>
            <a:pPr fontAlgn="base"/>
            <a:r>
              <a:rPr lang="en-US" b="1" dirty="0"/>
              <a:t>• IBM Cloud Lite </a:t>
            </a:r>
            <a:r>
              <a:rPr lang="en-US" dirty="0"/>
              <a:t>– Provides the cloud platform for running the solution.</a:t>
            </a:r>
          </a:p>
          <a:p>
            <a:pPr fontAlgn="base"/>
            <a:r>
              <a:rPr lang="en-US" b="1" dirty="0"/>
              <a:t>• Prompt Engineering – </a:t>
            </a:r>
            <a:r>
              <a:rPr lang="en-US" dirty="0"/>
              <a:t>Used to structure user queries and generate accurate travel itineraries.</a:t>
            </a:r>
          </a:p>
          <a:p>
            <a:pPr fontAlgn="base"/>
            <a:r>
              <a:rPr lang="en-US" b="1" dirty="0"/>
              <a:t>• Generative AI – </a:t>
            </a:r>
            <a:r>
              <a:rPr lang="en-US" dirty="0"/>
              <a:t>Used for itinerary creation, hotel recommendations, transportation suggestions, and travel guidance</a:t>
            </a:r>
            <a:r>
              <a:rPr lang="en-US" b="1" dirty="0"/>
              <a:t>.</a:t>
            </a:r>
          </a:p>
          <a:p>
            <a:pPr fontAlgn="base"/>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pPr fontAlgn="base"/>
            <a:endParaRPr lang="en-US" b="1" dirty="0"/>
          </a:p>
          <a:p>
            <a:r>
              <a:rPr lang="en-US" b="1" dirty="0"/>
              <a:t>Proposed Solution – AI-Powered Travel Planner Agent</a:t>
            </a:r>
          </a:p>
          <a:p>
            <a:endParaRPr lang="en-US" dirty="0"/>
          </a:p>
          <a:p>
            <a:r>
              <a:rPr lang="en-US" dirty="0"/>
              <a:t>The proposed solution is an AI-powered Travel Planner Agent built using </a:t>
            </a:r>
            <a:r>
              <a:rPr lang="en-US" dirty="0" err="1"/>
              <a:t>LangFlow</a:t>
            </a:r>
            <a:r>
              <a:rPr lang="en-US" dirty="0"/>
              <a:t>, IBM watsonx.ai, and IBM Granite Models. The system helps users plan trips efficiently by generating personalized travel itineraries based on destination, budget, trip duration, number of travelers, and interests.</a:t>
            </a:r>
          </a:p>
          <a:p>
            <a:endParaRPr lang="en-US" dirty="0"/>
          </a:p>
          <a:p>
            <a:r>
              <a:rPr lang="en-US" dirty="0"/>
              <a:t>The Travel Planner Agent analyzes user preferences and provides day-wise travel schedules, hotel recommendations, transportation suggestions, budget optimization, and travel tips. The solution uses IBM Granite models to understand user requirements and generate intelligent, customized travel plans in real time.</a:t>
            </a:r>
          </a:p>
          <a:p>
            <a:endParaRPr lang="en-US" dirty="0"/>
          </a:p>
          <a:p>
            <a:r>
              <a:rPr lang="en-US" dirty="0" err="1"/>
              <a:t>LangFlow</a:t>
            </a:r>
            <a:r>
              <a:rPr lang="en-US" dirty="0"/>
              <a:t> is used to design and manage the workflow, while IBM watsonx.ai provides access to Granite foundation models for reasoning and content generation. The system simplifies travel planning by offering a single platform for itinerary creation and travel guidance.</a:t>
            </a:r>
          </a:p>
          <a:p>
            <a:endParaRPr lang="en-US" dirty="0"/>
          </a:p>
          <a:p>
            <a:r>
              <a:rPr lang="en-US" dirty="0"/>
              <a:t>Overall, the solution acts as a smart virtual travel assistant that saves time, improves decision-making, and enhances the travel experience through personalized recommendations.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r>
              <a:rPr lang="en-US" dirty="0" err="1"/>
              <a:t>LangFlow</a:t>
            </a:r>
            <a:r>
              <a:rPr lang="en-US" dirty="0"/>
              <a:t> Components Used</a:t>
            </a:r>
          </a:p>
          <a:p>
            <a:endParaRPr lang="en-US" dirty="0"/>
          </a:p>
          <a:p>
            <a:r>
              <a:rPr lang="en-US" dirty="0"/>
              <a:t>1. Chat Input</a:t>
            </a:r>
          </a:p>
          <a:p>
            <a:r>
              <a:rPr lang="en-US" dirty="0"/>
              <a:t>   - Accepts user travel details such as source, destination, budget, duration, travelers, and interests.</a:t>
            </a:r>
          </a:p>
          <a:p>
            <a:endParaRPr lang="en-US" dirty="0"/>
          </a:p>
          <a:p>
            <a:r>
              <a:rPr lang="en-US" dirty="0"/>
              <a:t>2. Prompt Template</a:t>
            </a:r>
          </a:p>
          <a:p>
            <a:r>
              <a:rPr lang="en-US" dirty="0"/>
              <a:t>   - Structures user input into a format that IBM Granite can understand and process effectively.</a:t>
            </a:r>
          </a:p>
          <a:p>
            <a:endParaRPr lang="en-US" dirty="0"/>
          </a:p>
          <a:p>
            <a:r>
              <a:rPr lang="en-US" dirty="0"/>
              <a:t>3. IBM watsonx.ai</a:t>
            </a:r>
          </a:p>
          <a:p>
            <a:r>
              <a:rPr lang="en-US" dirty="0"/>
              <a:t>   - Connects to the IBM Granite foundation model and generates intelligent travel plans.</a:t>
            </a:r>
          </a:p>
          <a:p>
            <a:endParaRPr lang="en-US" dirty="0"/>
          </a:p>
          <a:p>
            <a:r>
              <a:rPr lang="en-US" dirty="0"/>
              <a:t>4. IBM Granite Model</a:t>
            </a:r>
          </a:p>
          <a:p>
            <a:r>
              <a:rPr lang="en-US" dirty="0"/>
              <a:t>   - Analyzes user preferences and creates personalized itineraries, hotel recommendations, and travel suggestions.</a:t>
            </a:r>
          </a:p>
          <a:p>
            <a:endParaRPr lang="en-US" dirty="0"/>
          </a:p>
          <a:p>
            <a:r>
              <a:rPr lang="en-US" dirty="0"/>
              <a:t>5. Chat Output</a:t>
            </a:r>
          </a:p>
          <a:p>
            <a:r>
              <a:rPr lang="en-US" dirty="0"/>
              <a:t>   - Displays the generated travel plan and recommendations to the user.</a:t>
            </a:r>
          </a:p>
          <a:p>
            <a:endParaRPr lang="en-US" dirty="0"/>
          </a:p>
          <a:p>
            <a:r>
              <a:rPr lang="en-US" dirty="0"/>
              <a:t>6. API Request (Optional)</a:t>
            </a:r>
          </a:p>
          <a:p>
            <a:r>
              <a:rPr lang="en-US" dirty="0"/>
              <a:t>   - Can be used for future integration of weather, maps, hotel, or travel information services</a:t>
            </a:r>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CB867F9B-C7EB-49DC-B382-CAA929BA28C2}"/>
              </a:ext>
            </a:extLst>
          </p:cNvPr>
          <p:cNvPicPr>
            <a:picLocks noChangeAspect="1"/>
          </p:cNvPicPr>
          <p:nvPr/>
        </p:nvPicPr>
        <p:blipFill>
          <a:blip r:embed="rId3"/>
          <a:stretch>
            <a:fillRect/>
          </a:stretch>
        </p:blipFill>
        <p:spPr>
          <a:xfrm>
            <a:off x="1157812" y="1034192"/>
            <a:ext cx="9876376" cy="515156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42E1-5298-4812-9B32-10B6A7D47E84}"/>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BFAA766E-FC22-440D-BC53-244F55A47406}"/>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3E4C2C3-AD3B-46B5-9EFB-10E1B97944E4}"/>
              </a:ext>
            </a:extLst>
          </p:cNvPr>
          <p:cNvPicPr>
            <a:picLocks noChangeAspect="1"/>
          </p:cNvPicPr>
          <p:nvPr/>
        </p:nvPicPr>
        <p:blipFill>
          <a:blip r:embed="rId2"/>
          <a:stretch>
            <a:fillRect/>
          </a:stretch>
        </p:blipFill>
        <p:spPr>
          <a:xfrm>
            <a:off x="673100" y="603868"/>
            <a:ext cx="10845800" cy="5650264"/>
          </a:xfrm>
          <a:prstGeom prst="rect">
            <a:avLst/>
          </a:prstGeom>
        </p:spPr>
      </p:pic>
    </p:spTree>
    <p:extLst>
      <p:ext uri="{BB962C8B-B14F-4D97-AF65-F5344CB8AC3E}">
        <p14:creationId xmlns:p14="http://schemas.microsoft.com/office/powerpoint/2010/main" val="1246044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61059B81-878F-4D0B-A675-104BA4C2B1A0}"/>
              </a:ext>
            </a:extLst>
          </p:cNvPr>
          <p:cNvPicPr>
            <a:picLocks noChangeAspect="1"/>
          </p:cNvPicPr>
          <p:nvPr/>
        </p:nvPicPr>
        <p:blipFill>
          <a:blip r:embed="rId3"/>
          <a:stretch>
            <a:fillRect/>
          </a:stretch>
        </p:blipFill>
        <p:spPr>
          <a:xfrm>
            <a:off x="4435791" y="412908"/>
            <a:ext cx="4021456" cy="60321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Generative AI in the Solution</a:t>
            </a:r>
          </a:p>
          <a:p>
            <a:endParaRPr lang="en-US" b="1" dirty="0"/>
          </a:p>
          <a:p>
            <a:r>
              <a:rPr lang="en-US" dirty="0"/>
              <a:t>Generative AI plays a central role in the AI Travel Planner Agent by enabling intelligent and personalized travel recommendations. The system uses IBM watsonx.ai and Granite Foundation Models to analyze user inputs such as source location, destination, budget, number of travelers, travel duration, and interests.</a:t>
            </a:r>
          </a:p>
          <a:p>
            <a:endParaRPr lang="en-US" dirty="0"/>
          </a:p>
          <a:p>
            <a:r>
              <a:rPr lang="en-US" dirty="0"/>
              <a:t>Based on these inputs, the Generative AI model generates a customized travel itinerary that includes destination recommendations, hotel suggestions, transportation options, estimated expenses, and travel tips. The model understands natural language queries and produces human-like responses, making the travel planning process simple and interactive.</a:t>
            </a:r>
          </a:p>
          <a:p>
            <a:endParaRPr lang="en-US" dirty="0"/>
          </a:p>
          <a:p>
            <a:r>
              <a:rPr lang="en-US" dirty="0"/>
              <a:t>Generative AI also helps optimize travel plans according to user constraints, ensuring that recommendations remain relevant, budget-friendly, and personalized. By automating itinerary creation and travel decision-making, the solution reduces manual effort and enhances the overall user experience.</a:t>
            </a:r>
          </a:p>
          <a:p>
            <a:endParaRPr lang="en-US" dirty="0"/>
          </a:p>
          <a:p>
            <a:r>
              <a:rPr lang="en-US" dirty="0"/>
              <a:t>Thus, Generative AI serves as the core intelligence layer of the system, transforming user requirements into a complete and actionable travel plan.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1201</TotalTime>
  <Words>1348</Words>
  <Application>Microsoft Office PowerPoint</Application>
  <PresentationFormat>Widescreen</PresentationFormat>
  <Paragraphs>141</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dpk08</cp:lastModifiedBy>
  <cp:revision>25</cp:revision>
  <dcterms:created xsi:type="dcterms:W3CDTF">2025-07-08T05:06:56Z</dcterms:created>
  <dcterms:modified xsi:type="dcterms:W3CDTF">2026-06-14T17:15:59Z</dcterms:modified>
</cp:coreProperties>
</file>